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4" y="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0D8AD-8A88-4309-A060-367636D2C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8D47F-B7EF-44CB-911B-00D426FAA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7E2B6-26D7-4BA0-9594-54AEAD562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A26D-2D2C-43CA-8F22-AA6104FABDD1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C1C64-A6CD-4C3F-90E2-304B7981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0DD94-734F-42A3-9FF1-7CBC08673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714B-4938-42FA-996F-6D847E179F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810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F890D-34F9-480B-9C13-86769CA4C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385F2-4D24-4B7A-8369-852D3A508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7FA60-C982-45EC-9848-4F83D295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A26D-2D2C-43CA-8F22-AA6104FABDD1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D0641-0E28-4263-8E6C-CC3825F6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4FECD-167E-4E0A-A4D5-4AAE87E1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714B-4938-42FA-996F-6D847E179F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65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35363-AEAD-4667-8B68-EF466062F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2AECE-CF98-4513-8A46-5D75CED17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10F6C-3EAF-455C-9D59-F577F4187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A26D-2D2C-43CA-8F22-AA6104FABDD1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2A3D1-6A18-4C9A-A08F-DCBE8DC2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64EBC-89F6-4588-BDD6-DD10AF486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714B-4938-42FA-996F-6D847E179F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070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9CF9A-28CE-4B33-B7FE-8CB35193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6E0C8-8597-40C8-A85D-C084F2D3D6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F357B-5E04-4BBE-B1C1-6587EEF7E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D53B3-758D-4229-B883-1B4FD805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A26D-2D2C-43CA-8F22-AA6104FABDD1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D743F-1933-4CA0-B010-C5895050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A2F8B-96FA-43E7-814D-41C75C287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714B-4938-42FA-996F-6D847E179F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971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01EA0-6353-4F88-931F-42FAEFF08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12A63-5870-4BCC-812D-C5F8AAB62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EE538-888E-416A-8FF2-DC3F0ED8E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5546D-708C-4EE7-A101-C645D12FF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6BAD69-6139-48F7-A7D2-ED50B24551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2B1899-10A3-4D94-8C21-A14B19826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A26D-2D2C-43CA-8F22-AA6104FABDD1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20DA5-C63D-4BC8-A87F-E748F4AD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81E6B6-A393-4579-88A7-53EDA30F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714B-4938-42FA-996F-6D847E179F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4468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8D53C-2328-470C-89B4-A18E82AE0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27368A-91D7-4C02-9106-679A3A16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A26D-2D2C-43CA-8F22-AA6104FABDD1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CBFC6-70D1-4FDE-8EF5-C1E20C0BC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12EEF-01CF-44B5-8B77-8FDBD08C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714B-4938-42FA-996F-6D847E179F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07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C167DA-2D2F-4D39-B48A-EAA736702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A26D-2D2C-43CA-8F22-AA6104FABDD1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80C541-66CD-4726-B884-C355C67D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B2126-636B-47E3-82D1-122CE842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714B-4938-42FA-996F-6D847E179F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643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E21A9-49AB-4E95-9754-4C80C3123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AA0EF-AB0B-4A9D-8168-731A40F3C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59E3F-AD20-40B7-90B3-3D554A88C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5AF8C-B263-4C83-9C57-FC02AC25E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A26D-2D2C-43CA-8F22-AA6104FABDD1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4C605-1C53-4126-9238-092BF931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AFA70-8DF7-4DE7-8037-9F7BF2E8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714B-4938-42FA-996F-6D847E179F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1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1E1CF-7AD3-4FC9-A9D5-F0A9E3F9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86C9CD-98F8-4032-BFF2-80E4CF8D1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BE361-A966-4452-8430-674EBB956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60EEF-A920-48A9-849D-F0B51B759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A26D-2D2C-43CA-8F22-AA6104FABDD1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B08BF-0728-4072-BC0E-E4D63B18D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EB3B3-C6D8-4D00-BDBC-83826406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714B-4938-42FA-996F-6D847E179F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272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A4568-D0D1-49DE-AF3A-A03C4DCDA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7E627E-5A6B-4312-A69D-D6C7941C5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2F568-E8E8-4898-B247-435A7C65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A26D-2D2C-43CA-8F22-AA6104FABDD1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A02ED-21EB-469C-A727-A8C60B205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D1C4D-92A6-479E-8E05-AB185A78E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714B-4938-42FA-996F-6D847E179F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261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BE27D6-73AF-43C9-A850-EF3A8D3DC4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75F7C-9E0F-4087-9A56-C79F26EDB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DAF78-AF36-44AA-A2D9-6FE0AF87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A26D-2D2C-43CA-8F22-AA6104FABDD1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94635-3393-4B78-889B-748BDD23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08714-4540-4EBB-AB8A-6347F79C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714B-4938-42FA-996F-6D847E179F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02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E3EB2E-5A00-4865-9A54-A1CE98A73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42BCA-48E5-45A3-B609-E7892DE78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FB21F-8D40-4D81-99B8-884DAE74D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4A26D-2D2C-43CA-8F22-AA6104FABDD1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B9DA3-7701-4D71-85CF-709234F8C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5A5EC-A5CB-4FBC-A09E-7D34EE6C3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A714B-4938-42FA-996F-6D847E179F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90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0966-F8A0-474E-BE4E-94CFB544F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WatchDog</a:t>
            </a:r>
            <a:r>
              <a:rPr lang="en-GB" dirty="0"/>
              <a:t> Topology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C6AC8-64E5-41B5-B54E-829597114A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Chris Kyriacou / CFN Services Ltd © 10</a:t>
            </a:r>
            <a:r>
              <a:rPr lang="en-GB" baseline="30000" dirty="0"/>
              <a:t>th</a:t>
            </a:r>
            <a:r>
              <a:rPr lang="en-GB" dirty="0"/>
              <a:t> July 2026</a:t>
            </a:r>
          </a:p>
        </p:txBody>
      </p:sp>
    </p:spTree>
    <p:extLst>
      <p:ext uri="{BB962C8B-B14F-4D97-AF65-F5344CB8AC3E}">
        <p14:creationId xmlns:p14="http://schemas.microsoft.com/office/powerpoint/2010/main" val="2734238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81BDD-B4F3-4AF4-B6BF-7B37F1CDE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 Stack for </a:t>
            </a:r>
            <a:r>
              <a:rPr lang="en-GB" dirty="0" err="1"/>
              <a:t>WatchDog</a:t>
            </a:r>
            <a:r>
              <a:rPr lang="en-GB" dirty="0"/>
              <a:t> Alpha</a:t>
            </a:r>
            <a:br>
              <a:rPr lang="en-GB" dirty="0"/>
            </a:br>
            <a:r>
              <a:rPr lang="en-GB" dirty="0"/>
              <a:t>(working prototype, July 2026)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E31D9-DEA6-4CF0-9F0B-638D80820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Hardware stack:</a:t>
            </a:r>
          </a:p>
          <a:p>
            <a:pPr lvl="1"/>
            <a:r>
              <a:rPr lang="en-GB" dirty="0"/>
              <a:t>ESP32 microcontroller dev kits, ESP32-S3, ESP32-C3, Wroom32D, </a:t>
            </a:r>
            <a:r>
              <a:rPr lang="en-GB" dirty="0" err="1"/>
              <a:t>Wrover</a:t>
            </a:r>
            <a:r>
              <a:rPr lang="en-GB" dirty="0"/>
              <a:t>-E</a:t>
            </a:r>
          </a:p>
          <a:p>
            <a:pPr lvl="1"/>
            <a:r>
              <a:rPr lang="en-GB" dirty="0"/>
              <a:t>Programmed with ESP-IDF v6.x via </a:t>
            </a:r>
            <a:r>
              <a:rPr lang="en-GB" dirty="0" err="1"/>
              <a:t>VSCode</a:t>
            </a:r>
            <a:r>
              <a:rPr lang="en-GB" dirty="0"/>
              <a:t> IDE</a:t>
            </a:r>
          </a:p>
          <a:p>
            <a:r>
              <a:rPr lang="en-GB" dirty="0"/>
              <a:t>Software stack:</a:t>
            </a:r>
          </a:p>
          <a:p>
            <a:pPr lvl="1"/>
            <a:r>
              <a:rPr lang="en-GB" dirty="0"/>
              <a:t>Docker Desktop v4.82 (latest stable)</a:t>
            </a:r>
          </a:p>
          <a:p>
            <a:pPr lvl="1"/>
            <a:r>
              <a:rPr lang="en-GB" dirty="0"/>
              <a:t>Python v3.12</a:t>
            </a:r>
          </a:p>
          <a:p>
            <a:pPr lvl="1"/>
            <a:r>
              <a:rPr lang="en-GB" dirty="0"/>
              <a:t>Postgres v18</a:t>
            </a:r>
          </a:p>
          <a:p>
            <a:pPr lvl="1"/>
            <a:r>
              <a:rPr lang="en-GB" dirty="0" err="1"/>
              <a:t>Streamlit</a:t>
            </a:r>
            <a:r>
              <a:rPr lang="en-GB" dirty="0"/>
              <a:t> (v1.59.2)</a:t>
            </a:r>
          </a:p>
          <a:p>
            <a:pPr lvl="1"/>
            <a:r>
              <a:rPr lang="en-GB" dirty="0"/>
              <a:t>Grafana (latest stable) – may not be used (was only for charting)</a:t>
            </a:r>
          </a:p>
          <a:p>
            <a:pPr lvl="1"/>
            <a:r>
              <a:rPr lang="en-GB" dirty="0" err="1"/>
              <a:t>FastAPI</a:t>
            </a:r>
            <a:r>
              <a:rPr lang="en-GB" dirty="0"/>
              <a:t> v0.139.2 (latest stable)</a:t>
            </a:r>
          </a:p>
          <a:p>
            <a:pPr lvl="1"/>
            <a:r>
              <a:rPr lang="en-GB" dirty="0"/>
              <a:t>Microsoft Windows 11 Pro, </a:t>
            </a:r>
            <a:r>
              <a:rPr lang="en-GB" dirty="0" err="1"/>
              <a:t>VSCode</a:t>
            </a:r>
            <a:r>
              <a:rPr lang="en-GB" dirty="0"/>
              <a:t> and WSL (for Docker Desktop/Containers)</a:t>
            </a:r>
          </a:p>
        </p:txBody>
      </p:sp>
    </p:spTree>
    <p:extLst>
      <p:ext uri="{BB962C8B-B14F-4D97-AF65-F5344CB8AC3E}">
        <p14:creationId xmlns:p14="http://schemas.microsoft.com/office/powerpoint/2010/main" val="2082647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E93D9-D6BF-4BAA-AA62-3F08C1BAE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6465"/>
          </a:xfrm>
        </p:spPr>
        <p:txBody>
          <a:bodyPr>
            <a:normAutofit fontScale="90000"/>
          </a:bodyPr>
          <a:lstStyle/>
          <a:p>
            <a:r>
              <a:rPr lang="en-GB" dirty="0"/>
              <a:t>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6E4F5-871F-4397-A1AF-43EF1DE31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Root Node </a:t>
            </a:r>
            <a:r>
              <a:rPr lang="en-GB" dirty="0"/>
              <a:t>- a device capable of having sensor modules installed, but crucially acts as a bridge or router via WLAN, LoRa, LTE etc to provide Internet Connectivity. Acts as an ESP-Mesh “root” and typically there is a single Root Node per deployed solution. Root Nodes are often referred to as “gateways”</a:t>
            </a:r>
          </a:p>
          <a:p>
            <a:r>
              <a:rPr lang="en-GB" b="1" dirty="0"/>
              <a:t>Sensor Node </a:t>
            </a:r>
            <a:r>
              <a:rPr lang="en-GB" dirty="0"/>
              <a:t>– a device capable of having sensor modules installed to periodically sample the sensors at a user configurable interval, collect data and transmit to the Root Node to buffer and forward to the cloud based database and front end management and reporting tool</a:t>
            </a:r>
          </a:p>
          <a:p>
            <a:r>
              <a:rPr lang="en-GB" b="1" dirty="0"/>
              <a:t>Power Efficiency </a:t>
            </a:r>
            <a:r>
              <a:rPr lang="en-GB" dirty="0"/>
              <a:t>– Root Nodes and Sensor Node hardware are primarily powered using Lithium ion/Polymer batteries, so power efficiency and battery life is a top priority</a:t>
            </a:r>
          </a:p>
        </p:txBody>
      </p:sp>
    </p:spTree>
    <p:extLst>
      <p:ext uri="{BB962C8B-B14F-4D97-AF65-F5344CB8AC3E}">
        <p14:creationId xmlns:p14="http://schemas.microsoft.com/office/powerpoint/2010/main" val="1697193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E1ABB-4E8A-4285-ADB1-977023A7A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9592"/>
          </a:xfrm>
        </p:spPr>
        <p:txBody>
          <a:bodyPr/>
          <a:lstStyle/>
          <a:p>
            <a:r>
              <a:rPr lang="en-GB" dirty="0"/>
              <a:t>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913B4-33BC-402A-956D-50B693112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Frontend – </a:t>
            </a:r>
            <a:r>
              <a:rPr lang="en-GB" dirty="0" err="1"/>
              <a:t>Streamlit</a:t>
            </a:r>
            <a:r>
              <a:rPr lang="en-GB" dirty="0"/>
              <a:t> GUI to provide user management, device management, device configuration, OTA update administration and dashboard/reporting capabilities</a:t>
            </a:r>
          </a:p>
          <a:p>
            <a:r>
              <a:rPr lang="en-GB" dirty="0"/>
              <a:t>API – </a:t>
            </a:r>
            <a:r>
              <a:rPr lang="en-GB" dirty="0" err="1"/>
              <a:t>FastAPI</a:t>
            </a:r>
            <a:r>
              <a:rPr lang="en-GB" dirty="0"/>
              <a:t> provides API services to knit the solution together, from ingesting sensor data to handling all calls to the database</a:t>
            </a:r>
          </a:p>
          <a:p>
            <a:r>
              <a:rPr lang="en-GB" dirty="0"/>
              <a:t>DB – Postgres provides simple database functionality and storage of user data, sensor data, firmware updates, device configuration data and data backups</a:t>
            </a:r>
          </a:p>
          <a:p>
            <a:r>
              <a:rPr lang="en-GB" dirty="0"/>
              <a:t>Grafana – initially used to visualise sensor data submitted to the database, it is unlikely to be used moving forwards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4300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5AF56-A2E9-4382-AB19-0E0EB6E83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531"/>
          </a:xfrm>
        </p:spPr>
        <p:txBody>
          <a:bodyPr/>
          <a:lstStyle/>
          <a:p>
            <a:r>
              <a:rPr lang="en-GB" dirty="0"/>
              <a:t>Sensor Node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5077C-F006-44E7-84A6-CC472E267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Sensor Nodes use plug and play Sensor Modules</a:t>
            </a:r>
          </a:p>
          <a:p>
            <a:r>
              <a:rPr lang="en-GB" dirty="0"/>
              <a:t>Sensor Modules typically use i2c communication, but may also take advantage of ADC, DAC and GPIO pins on ESP32 MCUs</a:t>
            </a:r>
          </a:p>
          <a:p>
            <a:r>
              <a:rPr lang="en-GB" dirty="0"/>
              <a:t>Intended to be battery powered so physically small, discrete and highly portable, able to be installed with Velcro to surfaces</a:t>
            </a:r>
          </a:p>
          <a:p>
            <a:r>
              <a:rPr lang="en-GB" dirty="0"/>
              <a:t>Sensor Module examples (non-exhaustive):</a:t>
            </a:r>
          </a:p>
          <a:p>
            <a:pPr lvl="1"/>
            <a:r>
              <a:rPr lang="en-GB" dirty="0"/>
              <a:t>Flood Detection</a:t>
            </a:r>
          </a:p>
          <a:p>
            <a:pPr lvl="1"/>
            <a:r>
              <a:rPr lang="en-GB" dirty="0"/>
              <a:t>Temp and Humidity sampling</a:t>
            </a:r>
          </a:p>
          <a:p>
            <a:pPr lvl="1"/>
            <a:r>
              <a:rPr lang="en-GB" dirty="0"/>
              <a:t>Light/Luminance sampling</a:t>
            </a:r>
          </a:p>
          <a:p>
            <a:pPr lvl="1"/>
            <a:r>
              <a:rPr lang="en-GB" dirty="0"/>
              <a:t>Motion/Presence detection</a:t>
            </a:r>
          </a:p>
          <a:p>
            <a:pPr lvl="1"/>
            <a:r>
              <a:rPr lang="en-GB" dirty="0"/>
              <a:t>Hall Effect sensors (to detect door or window opening events)</a:t>
            </a:r>
          </a:p>
          <a:p>
            <a:pPr lvl="1"/>
            <a:r>
              <a:rPr lang="en-GB" dirty="0"/>
              <a:t>Still image capture/Video streaming</a:t>
            </a:r>
          </a:p>
          <a:p>
            <a:pPr lvl="1"/>
            <a:r>
              <a:rPr lang="en-GB" dirty="0"/>
              <a:t>Sound Detection, recording/streaming</a:t>
            </a:r>
          </a:p>
          <a:p>
            <a:pPr lvl="1"/>
            <a:r>
              <a:rPr lang="en-GB" dirty="0"/>
              <a:t>Air quality sampling (particulate matter)</a:t>
            </a:r>
          </a:p>
        </p:txBody>
      </p:sp>
    </p:spTree>
    <p:extLst>
      <p:ext uri="{BB962C8B-B14F-4D97-AF65-F5344CB8AC3E}">
        <p14:creationId xmlns:p14="http://schemas.microsoft.com/office/powerpoint/2010/main" val="2201211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1C5F4-7694-4E14-ABF0-548708250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9532"/>
          </a:xfrm>
        </p:spPr>
        <p:txBody>
          <a:bodyPr>
            <a:normAutofit/>
          </a:bodyPr>
          <a:lstStyle/>
          <a:p>
            <a:r>
              <a:rPr lang="en-GB" sz="3600" dirty="0"/>
              <a:t>Root/Sensor Hardware ESP-Mesh Topology (Example)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910771D-3AFA-4C7B-A233-4D198020F681}"/>
              </a:ext>
            </a:extLst>
          </p:cNvPr>
          <p:cNvGrpSpPr/>
          <p:nvPr/>
        </p:nvGrpSpPr>
        <p:grpSpPr>
          <a:xfrm>
            <a:off x="-5937" y="1151901"/>
            <a:ext cx="12197936" cy="5708147"/>
            <a:chOff x="-5937" y="1151901"/>
            <a:chExt cx="12197936" cy="570814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A4D4EC9-30AD-4F60-8124-3BD84F0723B8}"/>
                </a:ext>
              </a:extLst>
            </p:cNvPr>
            <p:cNvGrpSpPr/>
            <p:nvPr/>
          </p:nvGrpSpPr>
          <p:grpSpPr>
            <a:xfrm>
              <a:off x="-5937" y="1151901"/>
              <a:ext cx="12197936" cy="5708147"/>
              <a:chOff x="-5937" y="1151901"/>
              <a:chExt cx="12197936" cy="5708147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A6D963E-EDD5-43A8-AEE8-4791A9BD893F}"/>
                  </a:ext>
                </a:extLst>
              </p:cNvPr>
              <p:cNvSpPr txBox="1"/>
              <p:nvPr/>
            </p:nvSpPr>
            <p:spPr>
              <a:xfrm>
                <a:off x="-5937" y="1151901"/>
                <a:ext cx="12193978" cy="147732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:r>
                  <a:rPr lang="en-GB" dirty="0"/>
                  <a:t>Root Layer</a:t>
                </a:r>
              </a:p>
              <a:p>
                <a:r>
                  <a:rPr lang="en-GB" dirty="0"/>
                  <a:t>(Mesh and Internet/LAN connected; uplinks to </a:t>
                </a:r>
              </a:p>
              <a:p>
                <a:r>
                  <a:rPr lang="en-GB" dirty="0"/>
                  <a:t>LAN/Cloud, downlinks to Parent and Child devices)</a:t>
                </a:r>
              </a:p>
              <a:p>
                <a:endParaRPr lang="en-GB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C4BDD88-B252-4964-9D05-07E4193EB246}"/>
                  </a:ext>
                </a:extLst>
              </p:cNvPr>
              <p:cNvSpPr txBox="1"/>
              <p:nvPr/>
            </p:nvSpPr>
            <p:spPr>
              <a:xfrm>
                <a:off x="-1981" y="2723410"/>
                <a:ext cx="12193979" cy="218521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Parent &amp; Child Layer</a:t>
                </a:r>
              </a:p>
              <a:p>
                <a:r>
                  <a:rPr lang="en-GB" dirty="0"/>
                  <a:t>(Mesh Child Uplinks to </a:t>
                </a:r>
              </a:p>
              <a:p>
                <a:r>
                  <a:rPr lang="en-GB" dirty="0"/>
                  <a:t>Root &amp; Downlinks to </a:t>
                </a:r>
              </a:p>
              <a:p>
                <a:r>
                  <a:rPr lang="en-GB" dirty="0"/>
                  <a:t>Children below)</a:t>
                </a:r>
              </a:p>
              <a:p>
                <a:endParaRPr lang="en-GB" dirty="0"/>
              </a:p>
              <a:p>
                <a:endParaRPr lang="en-GB" sz="10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44E847A-3605-4ADD-A350-C1A7151D360A}"/>
                  </a:ext>
                </a:extLst>
              </p:cNvPr>
              <p:cNvSpPr txBox="1"/>
              <p:nvPr/>
            </p:nvSpPr>
            <p:spPr>
              <a:xfrm>
                <a:off x="-3966" y="5013389"/>
                <a:ext cx="12195965" cy="184665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:r>
                  <a:rPr lang="en-GB" dirty="0"/>
                  <a:t>Child Layer</a:t>
                </a:r>
              </a:p>
              <a:p>
                <a:r>
                  <a:rPr lang="en-GB" dirty="0"/>
                  <a:t>(Mesh Uplinks to </a:t>
                </a:r>
              </a:p>
              <a:p>
                <a:r>
                  <a:rPr lang="en-GB" dirty="0"/>
                  <a:t>Parent devices, no </a:t>
                </a:r>
              </a:p>
              <a:p>
                <a:r>
                  <a:rPr lang="en-GB" dirty="0"/>
                  <a:t>further Downlinks)</a:t>
                </a:r>
              </a:p>
              <a:p>
                <a:endParaRPr lang="en-GB" dirty="0"/>
              </a:p>
              <a:p>
                <a:endParaRPr lang="en-GB" sz="400" dirty="0"/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FE36CA3-9521-432F-BF71-452D6BA4BF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7426" y="5245617"/>
                <a:ext cx="1532733" cy="121581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0C2521B-D18D-41E7-86B9-B7081C2E0B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07587" y="5242935"/>
                <a:ext cx="1532733" cy="121581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156C97D-EE7A-473D-9872-E586A79C04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54938" y="5242936"/>
                <a:ext cx="1532733" cy="121581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677C825-1010-4184-B690-3E74C6E508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64757" y="3192536"/>
                <a:ext cx="1532733" cy="121581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026" name="Picture 2" descr="Freenove Esp32 Wrover Dev | Visual Studio Code PlatformIO for ESP32 ...">
                <a:extLst>
                  <a:ext uri="{FF2B5EF4-FFF2-40B4-BE49-F238E27FC236}">
                    <a16:creationId xmlns:a16="http://schemas.microsoft.com/office/drawing/2014/main" id="{067F0164-E760-4E16-A940-DD88976F6E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03792" y="2810055"/>
                <a:ext cx="2027835" cy="19807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25CD47B1-29E0-4212-95C5-E3969CEB75DC}"/>
                  </a:ext>
                </a:extLst>
              </p:cNvPr>
              <p:cNvGrpSpPr/>
              <p:nvPr/>
            </p:nvGrpSpPr>
            <p:grpSpPr>
              <a:xfrm>
                <a:off x="5342324" y="1224657"/>
                <a:ext cx="5476104" cy="1325563"/>
                <a:chOff x="4730744" y="1574980"/>
                <a:chExt cx="5476104" cy="1325563"/>
              </a:xfrm>
            </p:grpSpPr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D956CCC-BD27-4B28-A8CD-2DB9CD9C503F}"/>
                    </a:ext>
                  </a:extLst>
                </p:cNvPr>
                <p:cNvSpPr txBox="1"/>
                <p:nvPr/>
              </p:nvSpPr>
              <p:spPr>
                <a:xfrm>
                  <a:off x="6768942" y="2006930"/>
                  <a:ext cx="343790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b="1" dirty="0"/>
                    <a:t>ROOT-NODE:</a:t>
                  </a:r>
                  <a:r>
                    <a:rPr lang="en-GB" sz="1200" dirty="0"/>
                    <a:t> </a:t>
                  </a:r>
                  <a:r>
                    <a:rPr lang="en-GB" sz="1200" dirty="0" err="1"/>
                    <a:t>Waveshare</a:t>
                  </a:r>
                  <a:r>
                    <a:rPr lang="en-GB" sz="1200" dirty="0"/>
                    <a:t> ESP32-S3 A7670E 4G Dev Board, with: LTE Cat-1, 2G, </a:t>
                  </a:r>
                  <a:r>
                    <a:rPr lang="en-GB" sz="1200" dirty="0" err="1"/>
                    <a:t>WiFi</a:t>
                  </a:r>
                  <a:r>
                    <a:rPr lang="en-GB" sz="1200" dirty="0"/>
                    <a:t>, Bluetooth, SMS &amp;  GNSS GPS</a:t>
                  </a:r>
                </a:p>
              </p:txBody>
            </p:sp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C64B0BE7-DC59-4A0E-B1D8-E3CC451AD0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30744" y="1574980"/>
                  <a:ext cx="1879095" cy="1325563"/>
                </a:xfrm>
                <a:prstGeom prst="rect">
                  <a:avLst/>
                </a:prstGeom>
              </p:spPr>
            </p:pic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3804B19-F595-4CAA-B32A-F418205FB771}"/>
                    </a:ext>
                  </a:extLst>
                </p:cNvPr>
                <p:cNvSpPr/>
                <p:nvPr/>
              </p:nvSpPr>
              <p:spPr>
                <a:xfrm>
                  <a:off x="4779816" y="1574980"/>
                  <a:ext cx="5391404" cy="132556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17E8D2B-F4DC-4DB9-B085-00BBA31BF0D3}"/>
                  </a:ext>
                </a:extLst>
              </p:cNvPr>
              <p:cNvSpPr/>
              <p:nvPr/>
            </p:nvSpPr>
            <p:spPr>
              <a:xfrm>
                <a:off x="3897490" y="3440513"/>
                <a:ext cx="2319131" cy="75408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38BC202-E6AB-4AB9-B977-0C873EA7C274}"/>
                  </a:ext>
                </a:extLst>
              </p:cNvPr>
              <p:cNvSpPr txBox="1"/>
              <p:nvPr/>
            </p:nvSpPr>
            <p:spPr>
              <a:xfrm>
                <a:off x="3960309" y="3687795"/>
                <a:ext cx="21553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160mhz RISC V, 4MB Flash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658913AD-4FCD-4A01-AFF0-99C0447135FF}"/>
                  </a:ext>
                </a:extLst>
              </p:cNvPr>
              <p:cNvGrpSpPr/>
              <p:nvPr/>
            </p:nvGrpSpPr>
            <p:grpSpPr>
              <a:xfrm>
                <a:off x="2027590" y="5110031"/>
                <a:ext cx="1696597" cy="1680358"/>
                <a:chOff x="1166628" y="5110031"/>
                <a:chExt cx="1696597" cy="1680358"/>
              </a:xfrm>
            </p:grpSpPr>
            <p:pic>
              <p:nvPicPr>
                <p:cNvPr id="1028" name="Picture 4">
                  <a:extLst>
                    <a:ext uri="{FF2B5EF4-FFF2-40B4-BE49-F238E27FC236}">
                      <a16:creationId xmlns:a16="http://schemas.microsoft.com/office/drawing/2014/main" id="{D0A7F74C-2927-41D9-AC68-02B88C3A5B5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66628" y="5110031"/>
                  <a:ext cx="1680358" cy="168035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A8558C9-AF0A-4BE8-BB45-13116D9F0F69}"/>
                    </a:ext>
                  </a:extLst>
                </p:cNvPr>
                <p:cNvSpPr txBox="1"/>
                <p:nvPr/>
              </p:nvSpPr>
              <p:spPr>
                <a:xfrm>
                  <a:off x="1182867" y="6513390"/>
                  <a:ext cx="168035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b="1" dirty="0"/>
                    <a:t>ESP32-Wroom </a:t>
                  </a:r>
                  <a:r>
                    <a:rPr lang="en-GB" sz="1200" b="1" dirty="0" err="1"/>
                    <a:t>DevKitC</a:t>
                  </a:r>
                  <a:endParaRPr lang="en-GB" sz="1200" b="1" dirty="0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64F52C20-BA41-46BC-908B-7DB5E9A47D7C}"/>
                  </a:ext>
                </a:extLst>
              </p:cNvPr>
              <p:cNvGrpSpPr/>
              <p:nvPr/>
            </p:nvGrpSpPr>
            <p:grpSpPr>
              <a:xfrm>
                <a:off x="10073201" y="5110031"/>
                <a:ext cx="1696597" cy="1680358"/>
                <a:chOff x="1166628" y="5110031"/>
                <a:chExt cx="1696597" cy="1680358"/>
              </a:xfrm>
            </p:grpSpPr>
            <p:pic>
              <p:nvPicPr>
                <p:cNvPr id="25" name="Picture 4">
                  <a:extLst>
                    <a:ext uri="{FF2B5EF4-FFF2-40B4-BE49-F238E27FC236}">
                      <a16:creationId xmlns:a16="http://schemas.microsoft.com/office/drawing/2014/main" id="{F8EC7B84-56C3-4FED-AF54-9264E26E091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66628" y="5110031"/>
                  <a:ext cx="1680358" cy="168035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CCE63C0-C3D0-4DA4-A5D6-F63E22A21D89}"/>
                    </a:ext>
                  </a:extLst>
                </p:cNvPr>
                <p:cNvSpPr txBox="1"/>
                <p:nvPr/>
              </p:nvSpPr>
              <p:spPr>
                <a:xfrm>
                  <a:off x="1182867" y="6513390"/>
                  <a:ext cx="168035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b="1" dirty="0"/>
                    <a:t>ESP32-Wroom </a:t>
                  </a:r>
                  <a:r>
                    <a:rPr lang="en-GB" sz="1200" b="1" dirty="0" err="1"/>
                    <a:t>DevKitC</a:t>
                  </a:r>
                  <a:endParaRPr lang="en-GB" sz="1200" b="1" dirty="0"/>
                </a:p>
              </p:txBody>
            </p:sp>
          </p:grpSp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CA24EF4-DA17-4D4F-9C91-394FF3F66CFF}"/>
                </a:ext>
              </a:extLst>
            </p:cNvPr>
            <p:cNvCxnSpPr/>
            <p:nvPr/>
          </p:nvCxnSpPr>
          <p:spPr>
            <a:xfrm flipV="1">
              <a:off x="5391396" y="2571008"/>
              <a:ext cx="17814" cy="92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8A70B39-F990-4F23-9E84-A64094FAA3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155" y="2514584"/>
              <a:ext cx="1255233" cy="655621"/>
            </a:xfrm>
            <a:prstGeom prst="straightConnector1">
              <a:avLst/>
            </a:prstGeom>
            <a:ln w="635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35B9F8D-FC26-4938-BA00-2DCF0916C2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50614" y="2271870"/>
              <a:ext cx="1521874" cy="842805"/>
            </a:xfrm>
            <a:prstGeom prst="straightConnector1">
              <a:avLst/>
            </a:prstGeom>
            <a:ln w="635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674C8AA-87AF-434B-A17A-5A75805F0AFE}"/>
                </a:ext>
              </a:extLst>
            </p:cNvPr>
            <p:cNvCxnSpPr>
              <a:cxnSpLocks/>
              <a:endCxn id="1026" idx="2"/>
            </p:cNvCxnSpPr>
            <p:nvPr/>
          </p:nvCxnSpPr>
          <p:spPr>
            <a:xfrm flipH="1" flipV="1">
              <a:off x="9617710" y="4790831"/>
              <a:ext cx="854064" cy="591580"/>
            </a:xfrm>
            <a:prstGeom prst="straightConnector1">
              <a:avLst/>
            </a:prstGeom>
            <a:ln w="635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7C3ECA2-9824-4FBC-A614-E02A4E9AC7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52378" y="4285358"/>
              <a:ext cx="1157141" cy="870548"/>
            </a:xfrm>
            <a:prstGeom prst="straightConnector1">
              <a:avLst/>
            </a:prstGeom>
            <a:ln w="635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17A8A1B-030E-4E16-9C41-EC4BDD5F77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3422" y="3964794"/>
              <a:ext cx="1459434" cy="1236599"/>
            </a:xfrm>
            <a:prstGeom prst="straightConnector1">
              <a:avLst/>
            </a:prstGeom>
            <a:ln w="635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E1376B8-3A8F-4723-A6B9-FE0B2B886F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4032" y="4687098"/>
              <a:ext cx="336375" cy="555837"/>
            </a:xfrm>
            <a:prstGeom prst="straightConnector1">
              <a:avLst/>
            </a:prstGeom>
            <a:ln w="635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E1736F27-1B31-4DB1-A5EF-BBE206BB45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5075" y="4330845"/>
              <a:ext cx="26700" cy="779186"/>
            </a:xfrm>
            <a:prstGeom prst="straightConnector1">
              <a:avLst/>
            </a:prstGeom>
            <a:ln w="635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4080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0CF03-8EEB-4340-8020-903DE5AE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Topology (July 2026)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CED6D-F950-4AAA-93DD-3DCFAAB36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525" y="2538180"/>
            <a:ext cx="4382112" cy="33246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D050EF-65DE-4D40-B70F-F1550FAC3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18" y="3429000"/>
            <a:ext cx="1879095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3FF74D-C41B-4DFB-B666-9B27E26D4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7694" y="1080652"/>
            <a:ext cx="2143424" cy="1457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012FD7-CD3B-4578-B089-762CEA0145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9749" y="4754563"/>
            <a:ext cx="1479216" cy="1340767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C193F3-E986-4A8E-8122-60EFF359AD19}"/>
              </a:ext>
            </a:extLst>
          </p:cNvPr>
          <p:cNvCxnSpPr>
            <a:cxnSpLocks/>
          </p:cNvCxnSpPr>
          <p:nvPr/>
        </p:nvCxnSpPr>
        <p:spPr>
          <a:xfrm flipV="1">
            <a:off x="7650956" y="2243138"/>
            <a:ext cx="2243138" cy="1335881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5F59EE-7E88-46D6-8ACD-AC1A58398556}"/>
              </a:ext>
            </a:extLst>
          </p:cNvPr>
          <p:cNvCxnSpPr>
            <a:cxnSpLocks/>
          </p:cNvCxnSpPr>
          <p:nvPr/>
        </p:nvCxnSpPr>
        <p:spPr>
          <a:xfrm flipH="1">
            <a:off x="2693192" y="3967321"/>
            <a:ext cx="1550196" cy="0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8561FB-FCFB-4744-9B65-355FF958E731}"/>
              </a:ext>
            </a:extLst>
          </p:cNvPr>
          <p:cNvCxnSpPr>
            <a:cxnSpLocks/>
          </p:cNvCxnSpPr>
          <p:nvPr/>
        </p:nvCxnSpPr>
        <p:spPr>
          <a:xfrm flipH="1" flipV="1">
            <a:off x="8134096" y="4512626"/>
            <a:ext cx="1521874" cy="842805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33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8E6F9-2A1B-4FA1-88CF-ACE30FCD6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WatchDog</a:t>
            </a:r>
            <a:r>
              <a:rPr lang="en-GB" dirty="0"/>
              <a:t>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3A27D-24B2-41BF-A521-71BDF61A7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Can be run as a Cloud SaaS service or local install (via Docker)</a:t>
            </a:r>
          </a:p>
          <a:p>
            <a:r>
              <a:rPr lang="en-GB" dirty="0"/>
              <a:t>Can be resold by 3</a:t>
            </a:r>
            <a:r>
              <a:rPr lang="en-GB" baseline="30000" dirty="0"/>
              <a:t>rd</a:t>
            </a:r>
            <a:r>
              <a:rPr lang="en-GB" dirty="0"/>
              <a:t> parties</a:t>
            </a:r>
          </a:p>
          <a:p>
            <a:r>
              <a:rPr lang="en-GB" dirty="0"/>
              <a:t>Root and Sensor Nodes can be manually deployed or quick deployed via QR code for fast configuration</a:t>
            </a:r>
          </a:p>
          <a:p>
            <a:r>
              <a:rPr lang="en-GB" dirty="0"/>
              <a:t>Root and Sensor Nodes can be physically installed with minimal work (self adhesive Velcro) or small self tapping screw</a:t>
            </a:r>
          </a:p>
          <a:p>
            <a:r>
              <a:rPr lang="en-GB" dirty="0"/>
              <a:t>Primary power source is batteries </a:t>
            </a:r>
            <a:r>
              <a:rPr lang="en-GB" dirty="0" err="1"/>
              <a:t>LiOn</a:t>
            </a:r>
            <a:r>
              <a:rPr lang="en-GB" dirty="0"/>
              <a:t> or LiPo, but can also use 5v DC via USB</a:t>
            </a:r>
          </a:p>
          <a:p>
            <a:r>
              <a:rPr lang="en-GB" dirty="0"/>
              <a:t>Root Node internet connectivity can be achieved via WLAN, Bluetooth, LTE, LoRa and other options</a:t>
            </a:r>
          </a:p>
          <a:p>
            <a:r>
              <a:rPr lang="en-GB" dirty="0"/>
              <a:t>ESP self-healing Mesh supported for hardware devices</a:t>
            </a:r>
          </a:p>
          <a:p>
            <a:r>
              <a:rPr lang="en-GB" dirty="0"/>
              <a:t>Low cost</a:t>
            </a:r>
          </a:p>
          <a:p>
            <a:r>
              <a:rPr lang="en-GB" dirty="0"/>
              <a:t>Multi-tenanted, many users can provision their own users, </a:t>
            </a:r>
            <a:r>
              <a:rPr lang="en-GB"/>
              <a:t>reports, devices </a:t>
            </a:r>
            <a:r>
              <a:rPr lang="en-GB" dirty="0"/>
              <a:t>and sites securely and with privacy</a:t>
            </a:r>
          </a:p>
          <a:p>
            <a:r>
              <a:rPr lang="en-GB" dirty="0"/>
              <a:t>End to End Encryption, for data security, packet security and Node hardware firmware security</a:t>
            </a:r>
          </a:p>
        </p:txBody>
      </p:sp>
    </p:spTree>
    <p:extLst>
      <p:ext uri="{BB962C8B-B14F-4D97-AF65-F5344CB8AC3E}">
        <p14:creationId xmlns:p14="http://schemas.microsoft.com/office/powerpoint/2010/main" val="3116829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681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WatchDog Topology</vt:lpstr>
      <vt:lpstr>Tech Stack for WatchDog Alpha (working prototype, July 2026)</vt:lpstr>
      <vt:lpstr>Hardware</vt:lpstr>
      <vt:lpstr>Software</vt:lpstr>
      <vt:lpstr>Sensor Node Capabilities</vt:lpstr>
      <vt:lpstr>Root/Sensor Hardware ESP-Mesh Topology (Example)</vt:lpstr>
      <vt:lpstr>Software Topology (July 2026)</vt:lpstr>
      <vt:lpstr>WatchDog 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WatchDog Topology</dc:title>
  <dc:creator>Chris</dc:creator>
  <cp:lastModifiedBy>Chris</cp:lastModifiedBy>
  <cp:revision>14</cp:revision>
  <dcterms:created xsi:type="dcterms:W3CDTF">2026-07-18T07:29:57Z</dcterms:created>
  <dcterms:modified xsi:type="dcterms:W3CDTF">2026-07-18T10:18:10Z</dcterms:modified>
</cp:coreProperties>
</file>